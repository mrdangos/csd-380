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0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51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64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0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67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48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1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64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7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02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184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5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4784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14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36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9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62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devops/report/dashboards/media/cycle-lead-time-concept-intro.png?view=azure-devop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E134C76-7FB4-4BB7-9322-DD8A4B179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Snip Single Corner Rectangle 17">
            <a:extLst>
              <a:ext uri="{FF2B5EF4-FFF2-40B4-BE49-F238E27FC236}">
                <a16:creationId xmlns:a16="http://schemas.microsoft.com/office/drawing/2014/main" id="{C0C57804-4F33-4D85-AA3E-DA0F214BB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9141618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685799"/>
            <a:ext cx="7259241" cy="3673474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chemeClr val="tx2"/>
                </a:solidFill>
              </a:rPr>
              <a:t>The Technology Value Stream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4648198"/>
            <a:ext cx="5254306" cy="11430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By: Hugo Ramirez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944" y="298680"/>
            <a:ext cx="8516112" cy="1143000"/>
          </a:xfrm>
        </p:spPr>
        <p:txBody>
          <a:bodyPr>
            <a:normAutofit/>
          </a:bodyPr>
          <a:lstStyle/>
          <a:p>
            <a:r>
              <a:rPr b="1" dirty="0"/>
              <a:t>Defining Lead Time vs. Processing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083" y="1542288"/>
            <a:ext cx="6477834" cy="458419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sz="2400" dirty="0">
                <a:solidFill>
                  <a:schemeClr val="tx1"/>
                </a:solidFill>
              </a:rPr>
              <a:t>Lead Time: Total time </a:t>
            </a:r>
            <a:r>
              <a:rPr lang="en-US" sz="2400" dirty="0">
                <a:solidFill>
                  <a:schemeClr val="tx1"/>
                </a:solidFill>
              </a:rPr>
              <a:t>from the moment the </a:t>
            </a:r>
            <a:r>
              <a:rPr sz="2400" dirty="0">
                <a:solidFill>
                  <a:schemeClr val="tx1"/>
                </a:solidFill>
              </a:rPr>
              <a:t>request</a:t>
            </a:r>
            <a:r>
              <a:rPr lang="en-US" sz="2400" dirty="0">
                <a:solidFill>
                  <a:schemeClr val="tx1"/>
                </a:solidFill>
              </a:rPr>
              <a:t> is issued</a:t>
            </a:r>
            <a:r>
              <a:rPr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in till</a:t>
            </a:r>
            <a:r>
              <a:rPr sz="2400" dirty="0">
                <a:solidFill>
                  <a:schemeClr val="tx1"/>
                </a:solidFill>
              </a:rPr>
              <a:t> completion.</a:t>
            </a: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Processing Time: Time actively spent working on the request.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Lead Time is what customer experiences when making a request</a:t>
            </a:r>
            <a:endParaRPr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809" y="274638"/>
            <a:ext cx="8487991" cy="1143000"/>
          </a:xfrm>
        </p:spPr>
        <p:txBody>
          <a:bodyPr>
            <a:normAutofit/>
          </a:bodyPr>
          <a:lstStyle/>
          <a:p>
            <a:r>
              <a:rPr b="1" dirty="0"/>
              <a:t>Diagram: </a:t>
            </a:r>
            <a:br>
              <a:rPr lang="en-US" b="1" dirty="0"/>
            </a:br>
            <a:r>
              <a:rPr b="1" dirty="0"/>
              <a:t>Lead Time vs. Processing Time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560D92-E5B2-7877-5F84-757640B68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09" y="1520570"/>
            <a:ext cx="8746382" cy="317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05" y="243840"/>
            <a:ext cx="5346192" cy="1524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Common Scenario: </a:t>
            </a:r>
            <a:r>
              <a:rPr b="1" dirty="0"/>
              <a:t>Deployment Lead Times Requiring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4566" y="2325624"/>
            <a:ext cx="6554867" cy="376767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sz="2400" dirty="0">
                <a:solidFill>
                  <a:schemeClr val="tx1"/>
                </a:solidFill>
              </a:rPr>
              <a:t>Large organizations often experience months-long deployment lead times.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B</a:t>
            </a:r>
            <a:r>
              <a:rPr sz="2400" dirty="0">
                <a:solidFill>
                  <a:schemeClr val="tx1"/>
                </a:solidFill>
              </a:rPr>
              <a:t>ottlenecks </a:t>
            </a:r>
            <a:r>
              <a:rPr lang="en-US" sz="2400" dirty="0">
                <a:solidFill>
                  <a:schemeClr val="tx1"/>
                </a:solidFill>
              </a:rPr>
              <a:t>are caused by </a:t>
            </a:r>
            <a:r>
              <a:rPr sz="2400" dirty="0">
                <a:solidFill>
                  <a:schemeClr val="tx1"/>
                </a:solidFill>
              </a:rPr>
              <a:t>manual testing, approval delays, and tightly coupled systems.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400" dirty="0">
                <a:solidFill>
                  <a:schemeClr val="tx1"/>
                </a:solidFill>
              </a:rPr>
              <a:t>Long lead times often require heroics at the end of development cycles.</a:t>
            </a:r>
          </a:p>
          <a:p>
            <a:pPr>
              <a:buFont typeface="Wingdings" panose="05000000000000000000" pitchFamily="2" charset="2"/>
              <a:buChar char="§"/>
            </a:pPr>
            <a:endParaRPr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" y="243840"/>
            <a:ext cx="6809232" cy="1524000"/>
          </a:xfrm>
        </p:spPr>
        <p:txBody>
          <a:bodyPr>
            <a:normAutofit fontScale="90000"/>
          </a:bodyPr>
          <a:lstStyle/>
          <a:p>
            <a:r>
              <a:rPr b="1" dirty="0"/>
              <a:t>DevOps Ideal: </a:t>
            </a:r>
            <a:br>
              <a:rPr lang="en-US" b="1" dirty="0"/>
            </a:br>
            <a:r>
              <a:rPr b="1" dirty="0"/>
              <a:t>Deployment Lead Times of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760" y="2185416"/>
            <a:ext cx="6642426" cy="40296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sz="2400" dirty="0">
                <a:solidFill>
                  <a:schemeClr val="tx1"/>
                </a:solidFill>
              </a:rPr>
              <a:t>DevOps focuses on automation, fast feedback, and continuous</a:t>
            </a:r>
            <a:r>
              <a:rPr lang="en-US" sz="2400" dirty="0">
                <a:solidFill>
                  <a:schemeClr val="tx1"/>
                </a:solidFill>
              </a:rPr>
              <a:t> improvement</a:t>
            </a:r>
            <a:r>
              <a:rPr sz="2400" dirty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400" dirty="0">
                <a:solidFill>
                  <a:schemeClr val="tx1"/>
                </a:solidFill>
              </a:rPr>
              <a:t>Small code changes are validated and deployed </a:t>
            </a:r>
            <a:r>
              <a:rPr lang="en-US" sz="2400" dirty="0">
                <a:solidFill>
                  <a:schemeClr val="tx1"/>
                </a:solidFill>
              </a:rPr>
              <a:t>regularly</a:t>
            </a:r>
            <a:r>
              <a:rPr sz="2400" dirty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sz="24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sz="2400" dirty="0">
                <a:solidFill>
                  <a:schemeClr val="tx1"/>
                </a:solidFill>
              </a:rPr>
              <a:t>Reduces risk, increases stability, and delivery</a:t>
            </a:r>
            <a:r>
              <a:rPr lang="en-US" sz="2400" dirty="0">
                <a:solidFill>
                  <a:schemeClr val="tx1"/>
                </a:solidFill>
              </a:rPr>
              <a:t> speed is increased</a:t>
            </a:r>
            <a:r>
              <a:rPr sz="2400" dirty="0">
                <a:solidFill>
                  <a:schemeClr val="tx1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928" y="170688"/>
            <a:ext cx="7037832" cy="1524000"/>
          </a:xfrm>
        </p:spPr>
        <p:txBody>
          <a:bodyPr>
            <a:normAutofit/>
          </a:bodyPr>
          <a:lstStyle/>
          <a:p>
            <a:r>
              <a:rPr b="1" dirty="0"/>
              <a:t>Diagram: </a:t>
            </a:r>
            <a:br>
              <a:rPr lang="en-US" b="1" dirty="0"/>
            </a:br>
            <a:r>
              <a:rPr b="1" dirty="0"/>
              <a:t>DevOps Deployment in Minutes</a:t>
            </a:r>
          </a:p>
        </p:txBody>
      </p:sp>
      <p:pic>
        <p:nvPicPr>
          <p:cNvPr id="8" name="Picture 7" descr="A diagram of a test&#10;&#10;AI-generated content may be incorrect.">
            <a:extLst>
              <a:ext uri="{FF2B5EF4-FFF2-40B4-BE49-F238E27FC236}">
                <a16:creationId xmlns:a16="http://schemas.microsoft.com/office/drawing/2014/main" id="{A00BCCB9-EB76-2AFA-B81D-454481C69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" y="1818703"/>
            <a:ext cx="8958072" cy="32205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529" y="100242"/>
            <a:ext cx="3462528" cy="1234782"/>
          </a:xfrm>
        </p:spPr>
        <p:txBody>
          <a:bodyPr/>
          <a:lstStyle/>
          <a:p>
            <a:r>
              <a:rPr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4566" y="1795272"/>
            <a:ext cx="6554867" cy="376767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>
                <a:solidFill>
                  <a:schemeClr val="tx1"/>
                </a:solidFill>
              </a:rPr>
              <a:t>Lead Time vs. Processing Time helps identify delays</a:t>
            </a:r>
            <a:r>
              <a:rPr lang="en-US" dirty="0">
                <a:solidFill>
                  <a:schemeClr val="tx1"/>
                </a:solidFill>
              </a:rPr>
              <a:t> and can help improve the process</a:t>
            </a:r>
            <a:r>
              <a:rPr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dirty="0">
                <a:solidFill>
                  <a:schemeClr val="tx1"/>
                </a:solidFill>
              </a:rPr>
              <a:t>Traditional processes often produce months-long deployments.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dirty="0">
                <a:solidFill>
                  <a:schemeClr val="tx1"/>
                </a:solidFill>
              </a:rPr>
              <a:t>DevOps practices</a:t>
            </a:r>
            <a:r>
              <a:rPr lang="en-US" dirty="0">
                <a:solidFill>
                  <a:schemeClr val="tx1"/>
                </a:solidFill>
              </a:rPr>
              <a:t> try to</a:t>
            </a:r>
            <a:r>
              <a:rPr dirty="0">
                <a:solidFill>
                  <a:schemeClr val="tx1"/>
                </a:solidFill>
              </a:rPr>
              <a:t> reduce deployment times to minutes</a:t>
            </a:r>
            <a:r>
              <a:rPr lang="en-US" dirty="0">
                <a:solidFill>
                  <a:schemeClr val="tx1"/>
                </a:solidFill>
              </a:rPr>
              <a:t> and reduce risk of failures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808" y="88392"/>
            <a:ext cx="6554867" cy="1136904"/>
          </a:xfrm>
        </p:spPr>
        <p:txBody>
          <a:bodyPr/>
          <a:lstStyle/>
          <a:p>
            <a:r>
              <a:rPr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4566" y="1356360"/>
            <a:ext cx="6554867" cy="434949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i="1" dirty="0">
                <a:solidFill>
                  <a:schemeClr val="tx1"/>
                </a:solidFill>
              </a:rPr>
              <a:t>Kim, G., Humble, J., Debois, P., &amp; Willis, J. (2021). The DevOps handbook (2nd edition.).  </a:t>
            </a:r>
          </a:p>
          <a:p>
            <a:pPr>
              <a:buFont typeface="Wingdings" panose="05000000000000000000" pitchFamily="2" charset="2"/>
              <a:buChar char="§"/>
            </a:pPr>
            <a:endParaRPr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i="1" dirty="0">
                <a:solidFill>
                  <a:schemeClr val="tx1"/>
                </a:solidFill>
              </a:rPr>
              <a:t>Kim, G., Humble, J., Debois, P., &amp; Willis, J. (2021). The DevOps handbook (2nd edition., Figure 1.3, p. 11).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i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i="1" dirty="0">
                <a:solidFill>
                  <a:schemeClr val="tx1"/>
                </a:solidFill>
              </a:rPr>
              <a:t>Microsoft Cycle time and lead time diagram. Microsoft Learn.</a:t>
            </a:r>
            <a:br>
              <a:rPr lang="en-US" sz="2400" i="1" dirty="0"/>
            </a:br>
            <a:r>
              <a:rPr lang="en-US" sz="2400" i="1" dirty="0">
                <a:solidFill>
                  <a:srgbClr val="467886"/>
                </a:solidFill>
                <a:hlinkClick r:id="rId2"/>
              </a:rPr>
              <a:t>https://learn.microsoft.com/en-us/azure/devops/report/dashboards/media/cycle-lead-time-concept-intro.png?view=azure-devops</a:t>
            </a:r>
            <a:r>
              <a:rPr lang="en-US" sz="2400" i="1" dirty="0">
                <a:solidFill>
                  <a:srgbClr val="467886"/>
                </a:solidFill>
              </a:rPr>
              <a:t> </a:t>
            </a:r>
            <a:endParaRPr sz="2400" i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296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Century Gothic</vt:lpstr>
      <vt:lpstr>Wingdings</vt:lpstr>
      <vt:lpstr>Wingdings 3</vt:lpstr>
      <vt:lpstr>Slice</vt:lpstr>
      <vt:lpstr>The Technology Value Stream</vt:lpstr>
      <vt:lpstr>Defining Lead Time vs. Processing Time</vt:lpstr>
      <vt:lpstr>Diagram:  Lead Time vs. Processing Time</vt:lpstr>
      <vt:lpstr>Common Scenario: Deployment Lead Times Requiring Months</vt:lpstr>
      <vt:lpstr>DevOps Ideal:  Deployment Lead Times of Minutes</vt:lpstr>
      <vt:lpstr>Diagram:  DevOps Deployment in Minutes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Hugo Ramirez</cp:lastModifiedBy>
  <cp:revision>5</cp:revision>
  <dcterms:created xsi:type="dcterms:W3CDTF">2013-01-27T09:14:16Z</dcterms:created>
  <dcterms:modified xsi:type="dcterms:W3CDTF">2025-12-07T00:44:42Z</dcterms:modified>
  <cp:category/>
</cp:coreProperties>
</file>